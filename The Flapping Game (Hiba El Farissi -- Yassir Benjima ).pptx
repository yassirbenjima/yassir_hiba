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57" r:id="rId3"/>
    <p:sldId id="258" r:id="rId4"/>
    <p:sldId id="260" r:id="rId5"/>
    <p:sldId id="261" r:id="rId6"/>
    <p:sldId id="259" r:id="rId7"/>
    <p:sldId id="262" r:id="rId8"/>
    <p:sldId id="264" r:id="rId9"/>
    <p:sldId id="263"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38" autoAdjust="0"/>
    <p:restoredTop sz="93842" autoAdjust="0"/>
  </p:normalViewPr>
  <p:slideViewPr>
    <p:cSldViewPr snapToGrid="0">
      <p:cViewPr varScale="1">
        <p:scale>
          <a:sx n="67" d="100"/>
          <a:sy n="67" d="100"/>
        </p:scale>
        <p:origin x="64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B1D4C5-9A8F-45DE-8479-ACE1CBB5AA8E}" type="datetimeFigureOut">
              <a:rPr lang="en-US" smtClean="0"/>
              <a:t>2023-01-04</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D8D951-BEEF-4DF8-9554-4C69FD3DC00D}" type="slidenum">
              <a:rPr lang="en-US" smtClean="0"/>
              <a:t>‹N°›</a:t>
            </a:fld>
            <a:endParaRPr lang="en-US"/>
          </a:p>
        </p:txBody>
      </p:sp>
    </p:spTree>
    <p:extLst>
      <p:ext uri="{BB962C8B-B14F-4D97-AF65-F5344CB8AC3E}">
        <p14:creationId xmlns:p14="http://schemas.microsoft.com/office/powerpoint/2010/main" val="3863248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C9D8D951-BEEF-4DF8-9554-4C69FD3DC00D}" type="slidenum">
              <a:rPr lang="en-US" smtClean="0"/>
              <a:t>9</a:t>
            </a:fld>
            <a:endParaRPr lang="en-US"/>
          </a:p>
        </p:txBody>
      </p:sp>
    </p:spTree>
    <p:extLst>
      <p:ext uri="{BB962C8B-B14F-4D97-AF65-F5344CB8AC3E}">
        <p14:creationId xmlns:p14="http://schemas.microsoft.com/office/powerpoint/2010/main" val="385184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fr-FR"/>
              <a:t>Modifiez le style du titre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1BC729C8-8C28-4647-857D-6FF7B32BF0C9}" type="datetimeFigureOut">
              <a:rPr lang="en-US" smtClean="0"/>
              <a:t>2023-01-04</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08F29034-997A-43E6-A8EC-F1D31FCADA70}" type="slidenum">
              <a:rPr lang="en-US" smtClean="0"/>
              <a:t>‹N°›</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4551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BC729C8-8C28-4647-857D-6FF7B32BF0C9}" type="datetimeFigureOut">
              <a:rPr lang="en-US" smtClean="0"/>
              <a:t>2023-01-04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F29034-997A-43E6-A8EC-F1D31FCADA70}" type="slidenum">
              <a:rPr lang="en-US" smtClean="0"/>
              <a:t>‹N°›</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87236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fr-FR"/>
              <a:t>Modifiez le style du titre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1BC729C8-8C28-4647-857D-6FF7B32BF0C9}" type="datetimeFigureOut">
              <a:rPr lang="en-US" smtClean="0"/>
              <a:t>2023-01-04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F29034-997A-43E6-A8EC-F1D31FCADA70}" type="slidenum">
              <a:rPr lang="en-US" smtClean="0"/>
              <a:t>‹N°›</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90888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fr-FR"/>
              <a:t>Modifiez le style du titre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1BC729C8-8C28-4647-857D-6FF7B32BF0C9}" type="datetimeFigureOut">
              <a:rPr lang="en-US" smtClean="0"/>
              <a:t>2023-01-04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F29034-997A-43E6-A8EC-F1D31FCADA70}" type="slidenum">
              <a:rPr lang="en-US" smtClean="0"/>
              <a:t>‹N°›</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26444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fr-FR"/>
              <a:t>Modifiez le style du titre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447191" y="2824269"/>
            <a:ext cx="4645152" cy="264445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412362" y="2821491"/>
            <a:ext cx="4645152" cy="263737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1BC729C8-8C28-4647-857D-6FF7B32BF0C9}" type="datetimeFigureOut">
              <a:rPr lang="en-US" smtClean="0"/>
              <a:t>2023-01-04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F29034-997A-43E6-A8EC-F1D31FCADA70}" type="slidenum">
              <a:rPr lang="en-US" smtClean="0"/>
              <a:t>‹N°›</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39288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BC729C8-8C28-4647-857D-6FF7B32BF0C9}" type="datetimeFigureOut">
              <a:rPr lang="en-US" smtClean="0"/>
              <a:t>2023-01-04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F29034-997A-43E6-A8EC-F1D31FCADA70}" type="slidenum">
              <a:rPr lang="en-US" smtClean="0"/>
              <a:t>‹N°›</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2515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C729C8-8C28-4647-857D-6FF7B32BF0C9}" type="datetimeFigureOut">
              <a:rPr lang="en-US" smtClean="0"/>
              <a:t>2023-01-04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F29034-997A-43E6-A8EC-F1D31FCADA70}" type="slidenum">
              <a:rPr lang="en-US" smtClean="0"/>
              <a:t>‹N°›</a:t>
            </a:fld>
            <a:endParaRPr lang="en-US"/>
          </a:p>
        </p:txBody>
      </p:sp>
    </p:spTree>
    <p:extLst>
      <p:ext uri="{BB962C8B-B14F-4D97-AF65-F5344CB8AC3E}">
        <p14:creationId xmlns:p14="http://schemas.microsoft.com/office/powerpoint/2010/main" val="3018472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fr-FR"/>
              <a:t>Modifiez le style du titre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1BC729C8-8C28-4647-857D-6FF7B32BF0C9}" type="datetimeFigureOut">
              <a:rPr lang="en-US" smtClean="0"/>
              <a:t>2023-01-04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F29034-997A-43E6-A8EC-F1D31FCADA70}" type="slidenum">
              <a:rPr lang="en-US" smtClean="0"/>
              <a:t>‹N°›</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12213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BC729C8-8C28-4647-857D-6FF7B32BF0C9}" type="datetimeFigureOut">
              <a:rPr lang="en-US" smtClean="0"/>
              <a:t>2023-01-04</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08F29034-997A-43E6-A8EC-F1D31FCADA70}" type="slidenum">
              <a:rPr lang="en-US" smtClean="0"/>
              <a:t>‹N°›</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1061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BC729C8-8C28-4647-857D-6FF7B32BF0C9}" type="datetimeFigureOut">
              <a:rPr lang="en-US" smtClean="0"/>
              <a:t>2023-01-04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F29034-997A-43E6-A8EC-F1D31FCADA70}" type="slidenum">
              <a:rPr lang="en-US" smtClean="0"/>
              <a:t>‹N°›</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47441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BC729C8-8C28-4647-857D-6FF7B32BF0C9}" type="datetimeFigureOut">
              <a:rPr lang="en-US" smtClean="0"/>
              <a:t>2023-01-04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F29034-997A-43E6-A8EC-F1D31FCADA70}" type="slidenum">
              <a:rPr lang="en-US" smtClean="0"/>
              <a:t>‹N°›</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88746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BC729C8-8C28-4647-857D-6FF7B32BF0C9}" type="datetimeFigureOut">
              <a:rPr lang="en-US" smtClean="0"/>
              <a:t>2023-01-04</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08F29034-997A-43E6-A8EC-F1D31FCADA70}" type="slidenum">
              <a:rPr lang="en-US" smtClean="0"/>
              <a:t>‹N°›</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97459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11.png"/><Relationship Id="rId4" Type="http://schemas.microsoft.com/office/2007/relationships/hdphoto" Target="../media/hdphoto2.wdp"/></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microsoft.com/office/2007/relationships/hdphoto" Target="../media/hdphoto6.wdp"/></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BA585A3E-C864-4C3A-B43C-F98F64796554}"/>
              </a:ext>
            </a:extLst>
          </p:cNvPr>
          <p:cNvPicPr>
            <a:picLocks noChangeAspect="1"/>
          </p:cNvPicPr>
          <p:nvPr/>
        </p:nvPicPr>
        <p:blipFill>
          <a:blip r:embed="rId2">
            <a:extLst>
              <a:ext uri="{BEBA8EAE-BF5A-486C-A8C5-ECC9F3942E4B}">
                <a14:imgProps xmlns:a14="http://schemas.microsoft.com/office/drawing/2010/main">
                  <a14:imgLayer r:embed="rId3">
                    <a14:imgEffect>
                      <a14:artisticLineDrawing/>
                    </a14:imgEffect>
                  </a14:imgLayer>
                </a14:imgProps>
              </a:ext>
              <a:ext uri="{28A0092B-C50C-407E-A947-70E740481C1C}">
                <a14:useLocalDpi xmlns:a14="http://schemas.microsoft.com/office/drawing/2010/main" val="0"/>
              </a:ext>
            </a:extLst>
          </a:blip>
          <a:stretch>
            <a:fillRect/>
          </a:stretch>
        </p:blipFill>
        <p:spPr>
          <a:xfrm>
            <a:off x="152400" y="0"/>
            <a:ext cx="12192000" cy="6762750"/>
          </a:xfrm>
          <a:prstGeom prst="rect">
            <a:avLst/>
          </a:prstGeom>
          <a:ln w="228600" cap="sq" cmpd="thickThin">
            <a:solidFill>
              <a:srgbClr val="000000"/>
            </a:solidFill>
            <a:prstDash val="solid"/>
            <a:miter lim="800000"/>
          </a:ln>
          <a:effectLst>
            <a:innerShdw blurRad="76200">
              <a:srgbClr val="000000"/>
            </a:innerShdw>
          </a:effectLst>
        </p:spPr>
      </p:pic>
      <p:sp>
        <p:nvSpPr>
          <p:cNvPr id="6" name="ZoneTexte 5">
            <a:extLst>
              <a:ext uri="{FF2B5EF4-FFF2-40B4-BE49-F238E27FC236}">
                <a16:creationId xmlns:a16="http://schemas.microsoft.com/office/drawing/2014/main" id="{D4896F30-52BD-4867-943E-F764717F3A79}"/>
              </a:ext>
            </a:extLst>
          </p:cNvPr>
          <p:cNvSpPr txBox="1"/>
          <p:nvPr/>
        </p:nvSpPr>
        <p:spPr>
          <a:xfrm>
            <a:off x="295275" y="4467224"/>
            <a:ext cx="6324600" cy="1569660"/>
          </a:xfrm>
          <a:prstGeom prst="rect">
            <a:avLst/>
          </a:prstGeom>
          <a:noFill/>
        </p:spPr>
        <p:txBody>
          <a:bodyPr wrap="square" rtlCol="0">
            <a:spAutoFit/>
          </a:bodyPr>
          <a:lstStyle/>
          <a:p>
            <a:r>
              <a:rPr lang="en-US" sz="4800" dirty="0">
                <a:solidFill>
                  <a:schemeClr val="bg1"/>
                </a:solidFill>
                <a:highlight>
                  <a:srgbClr val="000000"/>
                </a:highlight>
                <a:latin typeface="Broadway" panose="04040905080B02020502" pitchFamily="82" charset="0"/>
              </a:rPr>
              <a:t>Welcome In Our Game ……</a:t>
            </a:r>
          </a:p>
        </p:txBody>
      </p:sp>
    </p:spTree>
    <p:extLst>
      <p:ext uri="{BB962C8B-B14F-4D97-AF65-F5344CB8AC3E}">
        <p14:creationId xmlns:p14="http://schemas.microsoft.com/office/powerpoint/2010/main" val="1460914204"/>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F9B8BB21-1E71-4D02-9CD6-B99DABDD27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525"/>
            <a:ext cx="12191999" cy="6858000"/>
          </a:xfrm>
          <a:prstGeom prst="rect">
            <a:avLst/>
          </a:prstGeom>
        </p:spPr>
      </p:pic>
      <p:pic>
        <p:nvPicPr>
          <p:cNvPr id="9" name="Image 8">
            <a:extLst>
              <a:ext uri="{FF2B5EF4-FFF2-40B4-BE49-F238E27FC236}">
                <a16:creationId xmlns:a16="http://schemas.microsoft.com/office/drawing/2014/main" id="{4EB3953C-4157-41B0-8AB6-1000EC2E4C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0273" y="2795588"/>
            <a:ext cx="2341561" cy="186767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1" name="Image 10">
            <a:extLst>
              <a:ext uri="{FF2B5EF4-FFF2-40B4-BE49-F238E27FC236}">
                <a16:creationId xmlns:a16="http://schemas.microsoft.com/office/drawing/2014/main" id="{CD686F78-7F16-48FD-A0C7-B5215933AB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28749" y="876300"/>
            <a:ext cx="3152775" cy="211719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2" name="ZoneTexte 11">
            <a:extLst>
              <a:ext uri="{FF2B5EF4-FFF2-40B4-BE49-F238E27FC236}">
                <a16:creationId xmlns:a16="http://schemas.microsoft.com/office/drawing/2014/main" id="{A76A0499-70E2-4BF2-97B5-145396074691}"/>
              </a:ext>
            </a:extLst>
          </p:cNvPr>
          <p:cNvSpPr txBox="1"/>
          <p:nvPr/>
        </p:nvSpPr>
        <p:spPr>
          <a:xfrm>
            <a:off x="6096001" y="5274208"/>
            <a:ext cx="5915024" cy="2185214"/>
          </a:xfrm>
          <a:prstGeom prst="rect">
            <a:avLst/>
          </a:prstGeom>
          <a:noFill/>
        </p:spPr>
        <p:txBody>
          <a:bodyPr wrap="square" rtlCol="0">
            <a:spAutoFit/>
          </a:bodyPr>
          <a:lstStyle/>
          <a:p>
            <a:pPr marL="285750" indent="-285750">
              <a:buFont typeface="Symbol" panose="05050102010706020507" pitchFamily="18" charset="2"/>
              <a:buChar char="Þ"/>
            </a:pPr>
            <a:r>
              <a:rPr lang="en-US" sz="2000" b="1" dirty="0"/>
              <a:t>Name of Our group</a:t>
            </a:r>
            <a:r>
              <a:rPr lang="en-US" sz="2000" b="1" dirty="0">
                <a:highlight>
                  <a:srgbClr val="FFFF00"/>
                </a:highlight>
              </a:rPr>
              <a:t>:     The black hat .</a:t>
            </a:r>
          </a:p>
          <a:p>
            <a:pPr marL="285750" indent="-285750">
              <a:buFont typeface="Symbol" panose="05050102010706020507" pitchFamily="18" charset="2"/>
              <a:buChar char="Þ"/>
            </a:pPr>
            <a:r>
              <a:rPr lang="en-US" sz="2000" b="1" dirty="0"/>
              <a:t>Name of game:       </a:t>
            </a:r>
            <a:r>
              <a:rPr lang="en-US" sz="2000" b="1" dirty="0">
                <a:highlight>
                  <a:srgbClr val="FFFF00"/>
                </a:highlight>
              </a:rPr>
              <a:t>Flapping bird.</a:t>
            </a:r>
          </a:p>
          <a:p>
            <a:pPr marL="285750" indent="-285750">
              <a:buFont typeface="Symbol" panose="05050102010706020507" pitchFamily="18" charset="2"/>
              <a:buChar char="Þ"/>
            </a:pPr>
            <a:r>
              <a:rPr lang="en-US" sz="2000" b="1" dirty="0"/>
              <a:t>Team :         </a:t>
            </a:r>
            <a:r>
              <a:rPr lang="en-US" sz="2000" b="1" dirty="0">
                <a:highlight>
                  <a:srgbClr val="FFFF00"/>
                </a:highlight>
              </a:rPr>
              <a:t>Hiba El Farissi – </a:t>
            </a:r>
            <a:r>
              <a:rPr lang="en-US" sz="2000" b="1" dirty="0" err="1">
                <a:highlight>
                  <a:srgbClr val="FFFF00"/>
                </a:highlight>
              </a:rPr>
              <a:t>Yassir</a:t>
            </a:r>
            <a:r>
              <a:rPr lang="en-US" sz="2000" b="1" dirty="0">
                <a:highlight>
                  <a:srgbClr val="FFFF00"/>
                </a:highlight>
              </a:rPr>
              <a:t> </a:t>
            </a:r>
            <a:r>
              <a:rPr lang="en-US" sz="2000" b="1" dirty="0" err="1">
                <a:highlight>
                  <a:srgbClr val="FFFF00"/>
                </a:highlight>
              </a:rPr>
              <a:t>Benjima</a:t>
            </a:r>
            <a:r>
              <a:rPr lang="en-US" sz="2000" b="1" dirty="0">
                <a:highlight>
                  <a:srgbClr val="FFFF00"/>
                </a:highlight>
              </a:rPr>
              <a:t> .</a:t>
            </a:r>
          </a:p>
          <a:p>
            <a:pPr marL="285750" indent="-285750">
              <a:buFont typeface="Symbol" panose="05050102010706020507" pitchFamily="18" charset="2"/>
              <a:buChar char="Þ"/>
            </a:pPr>
            <a:r>
              <a:rPr lang="en-US" sz="2000" b="1" dirty="0"/>
              <a:t>The boss :          </a:t>
            </a:r>
            <a:r>
              <a:rPr lang="en-US" sz="2000" b="1" dirty="0" err="1">
                <a:highlight>
                  <a:srgbClr val="FFFF00"/>
                </a:highlight>
              </a:rPr>
              <a:t>Yassir</a:t>
            </a:r>
            <a:r>
              <a:rPr lang="en-US" sz="2000" b="1" dirty="0">
                <a:highlight>
                  <a:srgbClr val="FFFF00"/>
                </a:highlight>
              </a:rPr>
              <a:t> </a:t>
            </a:r>
            <a:r>
              <a:rPr lang="en-US" sz="2000" b="1" dirty="0" err="1">
                <a:highlight>
                  <a:srgbClr val="FFFF00"/>
                </a:highlight>
              </a:rPr>
              <a:t>Benjima</a:t>
            </a:r>
            <a:r>
              <a:rPr lang="en-US" sz="2000" b="1" dirty="0">
                <a:highlight>
                  <a:srgbClr val="FFFF00"/>
                </a:highlight>
              </a:rPr>
              <a:t> .</a:t>
            </a:r>
          </a:p>
          <a:p>
            <a:pPr marL="285750" indent="-285750">
              <a:buFont typeface="Symbol" panose="05050102010706020507" pitchFamily="18" charset="2"/>
              <a:buChar char="Þ"/>
            </a:pPr>
            <a:r>
              <a:rPr lang="en-US" sz="2000" b="1" dirty="0"/>
              <a:t>Group :                       </a:t>
            </a:r>
            <a:r>
              <a:rPr lang="en-US" sz="2000" b="1" dirty="0">
                <a:highlight>
                  <a:srgbClr val="FFFF00"/>
                </a:highlight>
              </a:rPr>
              <a:t>DEVOWFS 202.</a:t>
            </a:r>
          </a:p>
          <a:p>
            <a:endParaRPr lang="en-US" dirty="0"/>
          </a:p>
          <a:p>
            <a:endParaRPr lang="en-US" dirty="0"/>
          </a:p>
        </p:txBody>
      </p:sp>
    </p:spTree>
    <p:extLst>
      <p:ext uri="{BB962C8B-B14F-4D97-AF65-F5344CB8AC3E}">
        <p14:creationId xmlns:p14="http://schemas.microsoft.com/office/powerpoint/2010/main" val="102099898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a:extLst>
              <a:ext uri="{FF2B5EF4-FFF2-40B4-BE49-F238E27FC236}">
                <a16:creationId xmlns:a16="http://schemas.microsoft.com/office/drawing/2014/main" id="{9430473D-8DF4-4A5A-875D-5D2EA439D4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ZoneTexte 5">
            <a:extLst>
              <a:ext uri="{FF2B5EF4-FFF2-40B4-BE49-F238E27FC236}">
                <a16:creationId xmlns:a16="http://schemas.microsoft.com/office/drawing/2014/main" id="{A477F66B-19C6-455A-8B37-FA7D5C551AD9}"/>
              </a:ext>
            </a:extLst>
          </p:cNvPr>
          <p:cNvSpPr txBox="1"/>
          <p:nvPr/>
        </p:nvSpPr>
        <p:spPr>
          <a:xfrm>
            <a:off x="304800" y="1752599"/>
            <a:ext cx="4772024" cy="988179"/>
          </a:xfrm>
          <a:prstGeom prst="rect">
            <a:avLst/>
          </a:prstGeom>
          <a:noFill/>
        </p:spPr>
        <p:txBody>
          <a:bodyPr wrap="square" rtlCol="0">
            <a:spAutoFit/>
          </a:bodyPr>
          <a:lstStyle/>
          <a:p>
            <a:pPr lvl="1"/>
            <a:r>
              <a:rPr lang="en-US" sz="2800" i="1" dirty="0">
                <a:effectLst/>
                <a:latin typeface="Arial Black" panose="020B0A04020102020204" pitchFamily="34" charset="0"/>
              </a:rPr>
              <a:t>What is the purpose of Flappy Bird game?</a:t>
            </a:r>
            <a:endParaRPr lang="en-US" sz="2800" i="1" dirty="0">
              <a:latin typeface="Arial Black" panose="020B0A04020102020204" pitchFamily="34" charset="0"/>
            </a:endParaRPr>
          </a:p>
        </p:txBody>
      </p:sp>
      <p:sp>
        <p:nvSpPr>
          <p:cNvPr id="7" name="ZoneTexte 6">
            <a:extLst>
              <a:ext uri="{FF2B5EF4-FFF2-40B4-BE49-F238E27FC236}">
                <a16:creationId xmlns:a16="http://schemas.microsoft.com/office/drawing/2014/main" id="{05EE922A-8778-4461-95CF-6EDF1DE139A2}"/>
              </a:ext>
            </a:extLst>
          </p:cNvPr>
          <p:cNvSpPr txBox="1"/>
          <p:nvPr/>
        </p:nvSpPr>
        <p:spPr>
          <a:xfrm rot="10800000" flipV="1">
            <a:off x="161925" y="3198952"/>
            <a:ext cx="12030075" cy="1815882"/>
          </a:xfrm>
          <a:prstGeom prst="rect">
            <a:avLst/>
          </a:prstGeom>
          <a:noFill/>
        </p:spPr>
        <p:txBody>
          <a:bodyPr wrap="square" rtlCol="0">
            <a:spAutoFit/>
          </a:bodyPr>
          <a:lstStyle/>
          <a:p>
            <a:r>
              <a:rPr lang="en-US" sz="2800" b="0" i="0" dirty="0">
                <a:effectLst/>
                <a:latin typeface="+mj-lt"/>
              </a:rPr>
              <a:t>Flappy Bird is an arcade-style game in which the player controls the bird </a:t>
            </a:r>
            <a:r>
              <a:rPr lang="en-US" sz="2800" b="0" i="0" dirty="0" err="1">
                <a:effectLst/>
                <a:latin typeface="+mj-lt"/>
              </a:rPr>
              <a:t>Faby</a:t>
            </a:r>
            <a:r>
              <a:rPr lang="en-US" sz="2800" b="0" i="0" dirty="0">
                <a:effectLst/>
                <a:latin typeface="+mj-lt"/>
              </a:rPr>
              <a:t>, which moves persistently to the right. The player is tasked with </a:t>
            </a:r>
            <a:r>
              <a:rPr lang="en-US" sz="2800" b="1" i="0" dirty="0">
                <a:effectLst/>
                <a:latin typeface="+mj-lt"/>
              </a:rPr>
              <a:t>navigating </a:t>
            </a:r>
            <a:r>
              <a:rPr lang="en-US" sz="2800" b="1" i="0" dirty="0" err="1">
                <a:effectLst/>
                <a:latin typeface="+mj-lt"/>
              </a:rPr>
              <a:t>Faby</a:t>
            </a:r>
            <a:r>
              <a:rPr lang="en-US" sz="2800" b="1" i="0" dirty="0">
                <a:effectLst/>
                <a:latin typeface="+mj-lt"/>
              </a:rPr>
              <a:t> through pairs of pipes that have equally sized gaps placed at random heights</a:t>
            </a:r>
            <a:r>
              <a:rPr lang="en-US" sz="2800" b="0" i="0" dirty="0">
                <a:effectLst/>
                <a:latin typeface="+mj-lt"/>
              </a:rPr>
              <a:t>.</a:t>
            </a:r>
            <a:endParaRPr lang="en-US" sz="2800" dirty="0">
              <a:latin typeface="+mj-lt"/>
            </a:endParaRPr>
          </a:p>
        </p:txBody>
      </p:sp>
      <p:pic>
        <p:nvPicPr>
          <p:cNvPr id="13" name="Image 12">
            <a:extLst>
              <a:ext uri="{FF2B5EF4-FFF2-40B4-BE49-F238E27FC236}">
                <a16:creationId xmlns:a16="http://schemas.microsoft.com/office/drawing/2014/main" id="{82C477B7-5116-433A-9577-472C467FC040}"/>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Layer>
                </a14:imgProps>
              </a:ext>
              <a:ext uri="{28A0092B-C50C-407E-A947-70E740481C1C}">
                <a14:useLocalDpi xmlns:a14="http://schemas.microsoft.com/office/drawing/2010/main" val="0"/>
              </a:ext>
            </a:extLst>
          </a:blip>
          <a:stretch>
            <a:fillRect/>
          </a:stretch>
        </p:blipFill>
        <p:spPr>
          <a:xfrm>
            <a:off x="9064134" y="306778"/>
            <a:ext cx="2365866" cy="2098013"/>
          </a:xfrm>
          <a:prstGeom prst="rect">
            <a:avLst/>
          </a:prstGeom>
        </p:spPr>
      </p:pic>
    </p:spTree>
    <p:extLst>
      <p:ext uri="{BB962C8B-B14F-4D97-AF65-F5344CB8AC3E}">
        <p14:creationId xmlns:p14="http://schemas.microsoft.com/office/powerpoint/2010/main" val="3542334660"/>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475B247D-8366-4D8C-B662-72D1C57EB425}"/>
              </a:ext>
            </a:extLst>
          </p:cNvPr>
          <p:cNvSpPr txBox="1"/>
          <p:nvPr/>
        </p:nvSpPr>
        <p:spPr>
          <a:xfrm>
            <a:off x="1114426" y="714375"/>
            <a:ext cx="9448800" cy="707886"/>
          </a:xfrm>
          <a:prstGeom prst="rect">
            <a:avLst/>
          </a:prstGeom>
          <a:noFill/>
        </p:spPr>
        <p:txBody>
          <a:bodyPr wrap="square" rtlCol="0">
            <a:spAutoFit/>
          </a:bodyPr>
          <a:lstStyle/>
          <a:p>
            <a:pPr algn="ctr"/>
            <a:r>
              <a:rPr lang="en-US" sz="4000" b="1" dirty="0">
                <a:solidFill>
                  <a:schemeClr val="bg1"/>
                </a:solidFill>
                <a:highlight>
                  <a:srgbClr val="000000"/>
                </a:highlight>
              </a:rPr>
              <a:t>THE</a:t>
            </a:r>
            <a:r>
              <a:rPr lang="en-US" sz="4000" b="1" dirty="0">
                <a:highlight>
                  <a:srgbClr val="000000"/>
                </a:highlight>
              </a:rPr>
              <a:t> </a:t>
            </a:r>
            <a:r>
              <a:rPr lang="en-US" sz="4000" b="1" dirty="0">
                <a:solidFill>
                  <a:schemeClr val="bg1"/>
                </a:solidFill>
                <a:highlight>
                  <a:srgbClr val="000000"/>
                </a:highlight>
              </a:rPr>
              <a:t>INTERFACE</a:t>
            </a:r>
            <a:r>
              <a:rPr lang="en-US" sz="4000" b="1" dirty="0">
                <a:highlight>
                  <a:srgbClr val="000000"/>
                </a:highlight>
              </a:rPr>
              <a:t> </a:t>
            </a:r>
            <a:r>
              <a:rPr lang="en-US" sz="4000" b="1" dirty="0">
                <a:solidFill>
                  <a:schemeClr val="bg1"/>
                </a:solidFill>
                <a:highlight>
                  <a:srgbClr val="000000"/>
                </a:highlight>
              </a:rPr>
              <a:t>OF</a:t>
            </a:r>
            <a:r>
              <a:rPr lang="en-US" sz="4000" b="1" dirty="0">
                <a:highlight>
                  <a:srgbClr val="000000"/>
                </a:highlight>
              </a:rPr>
              <a:t> </a:t>
            </a:r>
            <a:r>
              <a:rPr lang="en-US" sz="4000" b="1" dirty="0">
                <a:solidFill>
                  <a:schemeClr val="bg1"/>
                </a:solidFill>
                <a:highlight>
                  <a:srgbClr val="000000"/>
                </a:highlight>
              </a:rPr>
              <a:t>GAME</a:t>
            </a:r>
            <a:r>
              <a:rPr lang="en-US" sz="4000" b="1" dirty="0">
                <a:highlight>
                  <a:srgbClr val="000000"/>
                </a:highlight>
              </a:rPr>
              <a:t> </a:t>
            </a:r>
          </a:p>
        </p:txBody>
      </p:sp>
      <p:pic>
        <p:nvPicPr>
          <p:cNvPr id="10" name="Image 9">
            <a:extLst>
              <a:ext uri="{FF2B5EF4-FFF2-40B4-BE49-F238E27FC236}">
                <a16:creationId xmlns:a16="http://schemas.microsoft.com/office/drawing/2014/main" id="{9AD683E7-160A-40C3-B287-6515503AC1FE}"/>
              </a:ext>
            </a:extLst>
          </p:cNvPr>
          <p:cNvPicPr>
            <a:picLocks noChangeAspect="1"/>
          </p:cNvPicPr>
          <p:nvPr/>
        </p:nvPicPr>
        <p:blipFill>
          <a:blip r:embed="rId2">
            <a:extLst>
              <a:ext uri="{BEBA8EAE-BF5A-486C-A8C5-ECC9F3942E4B}">
                <a14:imgProps xmlns:a14="http://schemas.microsoft.com/office/drawing/2010/main">
                  <a14:imgLayer r:embed="rId3">
                    <a14:imgEffect>
                      <a14:artisticChalkSketch/>
                    </a14:imgEffect>
                  </a14:imgLayer>
                </a14:imgProps>
              </a:ext>
            </a:extLst>
          </a:blip>
          <a:stretch>
            <a:fillRect/>
          </a:stretch>
        </p:blipFill>
        <p:spPr>
          <a:xfrm>
            <a:off x="0" y="1828800"/>
            <a:ext cx="12192000" cy="5029200"/>
          </a:xfrm>
          <a:prstGeom prst="rect">
            <a:avLst/>
          </a:prstGeom>
        </p:spPr>
      </p:pic>
    </p:spTree>
    <p:extLst>
      <p:ext uri="{BB962C8B-B14F-4D97-AF65-F5344CB8AC3E}">
        <p14:creationId xmlns:p14="http://schemas.microsoft.com/office/powerpoint/2010/main" val="2863440640"/>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0C1E8153-763C-4B5C-A9B7-673B0123BDF1}"/>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38100" y="1"/>
            <a:ext cx="12268200" cy="6858000"/>
          </a:xfrm>
          <a:prstGeom prst="rect">
            <a:avLst/>
          </a:prstGeom>
        </p:spPr>
      </p:pic>
    </p:spTree>
    <p:extLst>
      <p:ext uri="{BB962C8B-B14F-4D97-AF65-F5344CB8AC3E}">
        <p14:creationId xmlns:p14="http://schemas.microsoft.com/office/powerpoint/2010/main" val="995811442"/>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AF2F6822-F432-4BEE-896E-EC2AFF5B09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Espace réservé du contenu 2">
            <a:extLst>
              <a:ext uri="{FF2B5EF4-FFF2-40B4-BE49-F238E27FC236}">
                <a16:creationId xmlns:a16="http://schemas.microsoft.com/office/drawing/2014/main" id="{CCB4C2ED-3478-4B53-A4BE-CA15E4B78036}"/>
              </a:ext>
            </a:extLst>
          </p:cNvPr>
          <p:cNvSpPr>
            <a:spLocks noGrp="1"/>
          </p:cNvSpPr>
          <p:nvPr>
            <p:ph idx="1"/>
          </p:nvPr>
        </p:nvSpPr>
        <p:spPr>
          <a:xfrm>
            <a:off x="666751" y="2466975"/>
            <a:ext cx="10401300" cy="2999370"/>
          </a:xfrm>
        </p:spPr>
        <p:txBody>
          <a:bodyPr>
            <a:normAutofit/>
          </a:bodyPr>
          <a:lstStyle/>
          <a:p>
            <a:pPr marL="0" indent="0">
              <a:buNone/>
            </a:pPr>
            <a:r>
              <a:rPr lang="en-US" sz="2800" dirty="0"/>
              <a:t>The premise (tap the screen to give the bird a bump of lift and then it glides downward as it moves across the screen) is simple, but the touchy controls, merciless gravity mechanics, )and the fact that even getting close to a pipe is enough to end the single life you have per round have made  ...</a:t>
            </a:r>
          </a:p>
        </p:txBody>
      </p:sp>
      <p:sp>
        <p:nvSpPr>
          <p:cNvPr id="6" name="ZoneTexte 5">
            <a:extLst>
              <a:ext uri="{FF2B5EF4-FFF2-40B4-BE49-F238E27FC236}">
                <a16:creationId xmlns:a16="http://schemas.microsoft.com/office/drawing/2014/main" id="{C3C012FA-0038-4777-8412-4D0E28E5B984}"/>
              </a:ext>
            </a:extLst>
          </p:cNvPr>
          <p:cNvSpPr txBox="1"/>
          <p:nvPr/>
        </p:nvSpPr>
        <p:spPr>
          <a:xfrm>
            <a:off x="323850" y="1391655"/>
            <a:ext cx="5505450" cy="954107"/>
          </a:xfrm>
          <a:prstGeom prst="rect">
            <a:avLst/>
          </a:prstGeom>
          <a:noFill/>
        </p:spPr>
        <p:txBody>
          <a:bodyPr wrap="square" rtlCol="0">
            <a:spAutoFit/>
          </a:bodyPr>
          <a:lstStyle/>
          <a:p>
            <a:r>
              <a:rPr lang="en-US" sz="2800" b="1" i="1" dirty="0">
                <a:effectLst/>
                <a:latin typeface="Arial Black" panose="020B0A04020102020204" pitchFamily="34" charset="0"/>
              </a:rPr>
              <a:t>What makes Flappy Bird so addictive?</a:t>
            </a:r>
            <a:endParaRPr lang="en-US" sz="2800" b="1" i="1" dirty="0">
              <a:latin typeface="Arial Black" panose="020B0A04020102020204" pitchFamily="34" charset="0"/>
            </a:endParaRPr>
          </a:p>
        </p:txBody>
      </p:sp>
      <p:pic>
        <p:nvPicPr>
          <p:cNvPr id="13" name="Image 12">
            <a:extLst>
              <a:ext uri="{FF2B5EF4-FFF2-40B4-BE49-F238E27FC236}">
                <a16:creationId xmlns:a16="http://schemas.microsoft.com/office/drawing/2014/main" id="{D9302C95-5341-4C8B-B9A6-C7CF18FFEC29}"/>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Layer>
                </a14:imgProps>
              </a:ext>
              <a:ext uri="{28A0092B-C50C-407E-A947-70E740481C1C}">
                <a14:useLocalDpi xmlns:a14="http://schemas.microsoft.com/office/drawing/2010/main" val="0"/>
              </a:ext>
            </a:extLst>
          </a:blip>
          <a:stretch>
            <a:fillRect/>
          </a:stretch>
        </p:blipFill>
        <p:spPr>
          <a:xfrm>
            <a:off x="8949834" y="210654"/>
            <a:ext cx="2365866" cy="2098013"/>
          </a:xfrm>
          <a:prstGeom prst="rect">
            <a:avLst/>
          </a:prstGeom>
        </p:spPr>
      </p:pic>
    </p:spTree>
    <p:extLst>
      <p:ext uri="{BB962C8B-B14F-4D97-AF65-F5344CB8AC3E}">
        <p14:creationId xmlns:p14="http://schemas.microsoft.com/office/powerpoint/2010/main" val="2177950541"/>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869757A2-64F7-4478-ABB8-5F44F30E42A1}"/>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37088" y="0"/>
            <a:ext cx="12229088" cy="6934200"/>
          </a:xfrm>
          <a:prstGeom prst="rect">
            <a:avLst/>
          </a:prstGeom>
        </p:spPr>
      </p:pic>
    </p:spTree>
    <p:extLst>
      <p:ext uri="{BB962C8B-B14F-4D97-AF65-F5344CB8AC3E}">
        <p14:creationId xmlns:p14="http://schemas.microsoft.com/office/powerpoint/2010/main" val="384109399"/>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AF2F6822-F432-4BEE-896E-EC2AFF5B09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Espace réservé du contenu 2">
            <a:extLst>
              <a:ext uri="{FF2B5EF4-FFF2-40B4-BE49-F238E27FC236}">
                <a16:creationId xmlns:a16="http://schemas.microsoft.com/office/drawing/2014/main" id="{CCB4C2ED-3478-4B53-A4BE-CA15E4B78036}"/>
              </a:ext>
            </a:extLst>
          </p:cNvPr>
          <p:cNvSpPr>
            <a:spLocks noGrp="1"/>
          </p:cNvSpPr>
          <p:nvPr>
            <p:ph idx="1"/>
          </p:nvPr>
        </p:nvSpPr>
        <p:spPr>
          <a:xfrm>
            <a:off x="247650" y="4823058"/>
            <a:ext cx="10820402" cy="2034942"/>
          </a:xfrm>
        </p:spPr>
        <p:txBody>
          <a:bodyPr>
            <a:normAutofit fontScale="92500" lnSpcReduction="10000"/>
          </a:bodyPr>
          <a:lstStyle/>
          <a:p>
            <a:pPr marL="0" indent="0">
              <a:buNone/>
            </a:pPr>
            <a:r>
              <a:rPr lang="en-US" sz="2800" b="0" i="0" dirty="0">
                <a:effectLst/>
              </a:rPr>
              <a:t>Flappy bird?</a:t>
            </a:r>
          </a:p>
          <a:p>
            <a:pPr marL="0" indent="0">
              <a:buNone/>
            </a:pPr>
            <a:r>
              <a:rPr lang="en-US" sz="2800" b="0" i="0" dirty="0">
                <a:effectLst/>
              </a:rPr>
              <a:t>Well... There actually is an end. I have not made it there myself, but the highest number you can get is 9,999 or something like that. I have a ways to go before I ever get that</a:t>
            </a:r>
            <a:endParaRPr lang="en-US" sz="2800" dirty="0"/>
          </a:p>
        </p:txBody>
      </p:sp>
      <p:sp>
        <p:nvSpPr>
          <p:cNvPr id="6" name="ZoneTexte 5">
            <a:extLst>
              <a:ext uri="{FF2B5EF4-FFF2-40B4-BE49-F238E27FC236}">
                <a16:creationId xmlns:a16="http://schemas.microsoft.com/office/drawing/2014/main" id="{C3C012FA-0038-4777-8412-4D0E28E5B984}"/>
              </a:ext>
            </a:extLst>
          </p:cNvPr>
          <p:cNvSpPr txBox="1"/>
          <p:nvPr/>
        </p:nvSpPr>
        <p:spPr>
          <a:xfrm>
            <a:off x="247650" y="1009651"/>
            <a:ext cx="5534025" cy="1384995"/>
          </a:xfrm>
          <a:prstGeom prst="rect">
            <a:avLst/>
          </a:prstGeom>
          <a:noFill/>
        </p:spPr>
        <p:txBody>
          <a:bodyPr wrap="square" rtlCol="0">
            <a:spAutoFit/>
          </a:bodyPr>
          <a:lstStyle/>
          <a:p>
            <a:r>
              <a:rPr lang="en-US" sz="2800" b="1" i="1" dirty="0">
                <a:latin typeface="Arial Black" panose="020B0A04020102020204" pitchFamily="34" charset="0"/>
              </a:rPr>
              <a:t>Why is scoring important in games?</a:t>
            </a:r>
          </a:p>
          <a:p>
            <a:endParaRPr lang="en-US" sz="2800" b="1" i="1" dirty="0">
              <a:latin typeface="Arial Black" panose="020B0A04020102020204" pitchFamily="34" charset="0"/>
            </a:endParaRPr>
          </a:p>
        </p:txBody>
      </p:sp>
      <p:pic>
        <p:nvPicPr>
          <p:cNvPr id="13" name="Image 12">
            <a:extLst>
              <a:ext uri="{FF2B5EF4-FFF2-40B4-BE49-F238E27FC236}">
                <a16:creationId xmlns:a16="http://schemas.microsoft.com/office/drawing/2014/main" id="{D9302C95-5341-4C8B-B9A6-C7CF18FFEC29}"/>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Layer>
                </a14:imgProps>
              </a:ext>
              <a:ext uri="{28A0092B-C50C-407E-A947-70E740481C1C}">
                <a14:useLocalDpi xmlns:a14="http://schemas.microsoft.com/office/drawing/2010/main" val="0"/>
              </a:ext>
            </a:extLst>
          </a:blip>
          <a:stretch>
            <a:fillRect/>
          </a:stretch>
        </p:blipFill>
        <p:spPr>
          <a:xfrm>
            <a:off x="9098568" y="182079"/>
            <a:ext cx="2365866" cy="2098013"/>
          </a:xfrm>
          <a:prstGeom prst="rect">
            <a:avLst/>
          </a:prstGeom>
        </p:spPr>
      </p:pic>
      <p:sp>
        <p:nvSpPr>
          <p:cNvPr id="9" name="ZoneTexte 8">
            <a:extLst>
              <a:ext uri="{FF2B5EF4-FFF2-40B4-BE49-F238E27FC236}">
                <a16:creationId xmlns:a16="http://schemas.microsoft.com/office/drawing/2014/main" id="{BFDA1281-5C4D-44A9-B62C-D3B8AA34429B}"/>
              </a:ext>
            </a:extLst>
          </p:cNvPr>
          <p:cNvSpPr txBox="1"/>
          <p:nvPr/>
        </p:nvSpPr>
        <p:spPr>
          <a:xfrm>
            <a:off x="180975" y="3914775"/>
            <a:ext cx="6391275" cy="523220"/>
          </a:xfrm>
          <a:prstGeom prst="rect">
            <a:avLst/>
          </a:prstGeom>
          <a:noFill/>
        </p:spPr>
        <p:txBody>
          <a:bodyPr wrap="square" rtlCol="0">
            <a:spAutoFit/>
          </a:bodyPr>
          <a:lstStyle/>
          <a:p>
            <a:r>
              <a:rPr lang="en-US" sz="2800" b="1" i="1" dirty="0">
                <a:latin typeface="Arial Black" panose="020B0A04020102020204" pitchFamily="34" charset="0"/>
              </a:rPr>
              <a:t>Is There an end to flappy bird ?</a:t>
            </a:r>
          </a:p>
        </p:txBody>
      </p:sp>
      <p:sp>
        <p:nvSpPr>
          <p:cNvPr id="4" name="ZoneTexte 3">
            <a:extLst>
              <a:ext uri="{FF2B5EF4-FFF2-40B4-BE49-F238E27FC236}">
                <a16:creationId xmlns:a16="http://schemas.microsoft.com/office/drawing/2014/main" id="{F4876A78-E5F4-4E32-B94E-93F439AE8D78}"/>
              </a:ext>
            </a:extLst>
          </p:cNvPr>
          <p:cNvSpPr txBox="1"/>
          <p:nvPr/>
        </p:nvSpPr>
        <p:spPr>
          <a:xfrm>
            <a:off x="342900" y="2200275"/>
            <a:ext cx="4600575" cy="1384995"/>
          </a:xfrm>
          <a:prstGeom prst="rect">
            <a:avLst/>
          </a:prstGeom>
          <a:noFill/>
        </p:spPr>
        <p:txBody>
          <a:bodyPr wrap="square" rtlCol="0">
            <a:spAutoFit/>
          </a:bodyPr>
          <a:lstStyle/>
          <a:p>
            <a:r>
              <a:rPr lang="en-US" sz="2800" dirty="0"/>
              <a:t>Scoring systems largely determine how long players stay in a game </a:t>
            </a:r>
          </a:p>
        </p:txBody>
      </p:sp>
      <p:pic>
        <p:nvPicPr>
          <p:cNvPr id="15" name="Image 14">
            <a:extLst>
              <a:ext uri="{FF2B5EF4-FFF2-40B4-BE49-F238E27FC236}">
                <a16:creationId xmlns:a16="http://schemas.microsoft.com/office/drawing/2014/main" id="{4473C981-3411-4394-9279-0B3491EE79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6286497" y="1720119"/>
            <a:ext cx="2700340" cy="194027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282284745"/>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CACC348D-70CF-4586-90B1-56167F696883}"/>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0" y="1495425"/>
            <a:ext cx="12192000" cy="5362575"/>
          </a:xfrm>
          <a:prstGeom prst="rect">
            <a:avLst/>
          </a:prstGeom>
        </p:spPr>
      </p:pic>
      <p:sp>
        <p:nvSpPr>
          <p:cNvPr id="8" name="ZoneTexte 7">
            <a:extLst>
              <a:ext uri="{FF2B5EF4-FFF2-40B4-BE49-F238E27FC236}">
                <a16:creationId xmlns:a16="http://schemas.microsoft.com/office/drawing/2014/main" id="{B8883A8E-C04B-47FB-AF74-C29FF54AD923}"/>
              </a:ext>
            </a:extLst>
          </p:cNvPr>
          <p:cNvSpPr txBox="1"/>
          <p:nvPr/>
        </p:nvSpPr>
        <p:spPr>
          <a:xfrm>
            <a:off x="962025" y="428625"/>
            <a:ext cx="9601201" cy="707886"/>
          </a:xfrm>
          <a:prstGeom prst="rect">
            <a:avLst/>
          </a:prstGeom>
          <a:noFill/>
        </p:spPr>
        <p:txBody>
          <a:bodyPr wrap="square" rtlCol="0">
            <a:spAutoFit/>
          </a:bodyPr>
          <a:lstStyle/>
          <a:p>
            <a:pPr algn="ctr"/>
            <a:r>
              <a:rPr lang="en-US" sz="4000" b="1" dirty="0">
                <a:solidFill>
                  <a:schemeClr val="bg1"/>
                </a:solidFill>
                <a:highlight>
                  <a:srgbClr val="000000"/>
                </a:highlight>
              </a:rPr>
              <a:t>THE</a:t>
            </a:r>
            <a:r>
              <a:rPr lang="en-US" sz="4000" b="1" dirty="0">
                <a:highlight>
                  <a:srgbClr val="000000"/>
                </a:highlight>
              </a:rPr>
              <a:t> </a:t>
            </a:r>
            <a:r>
              <a:rPr lang="en-US" sz="4000" b="1" dirty="0">
                <a:solidFill>
                  <a:schemeClr val="bg1"/>
                </a:solidFill>
                <a:highlight>
                  <a:srgbClr val="000000"/>
                </a:highlight>
              </a:rPr>
              <a:t>INTERFACE</a:t>
            </a:r>
            <a:r>
              <a:rPr lang="en-US" sz="4000" b="1" dirty="0">
                <a:highlight>
                  <a:srgbClr val="000000"/>
                </a:highlight>
              </a:rPr>
              <a:t> </a:t>
            </a:r>
            <a:r>
              <a:rPr lang="en-US" sz="4000" b="1" dirty="0">
                <a:solidFill>
                  <a:schemeClr val="bg1"/>
                </a:solidFill>
                <a:highlight>
                  <a:srgbClr val="000000"/>
                </a:highlight>
              </a:rPr>
              <a:t>OF</a:t>
            </a:r>
            <a:r>
              <a:rPr lang="en-US" sz="4000" b="1" dirty="0">
                <a:highlight>
                  <a:srgbClr val="000000"/>
                </a:highlight>
              </a:rPr>
              <a:t> </a:t>
            </a:r>
            <a:r>
              <a:rPr lang="en-US" sz="4000" b="1" dirty="0">
                <a:solidFill>
                  <a:schemeClr val="bg1"/>
                </a:solidFill>
                <a:highlight>
                  <a:srgbClr val="000000"/>
                </a:highlight>
              </a:rPr>
              <a:t>GAME</a:t>
            </a:r>
            <a:r>
              <a:rPr lang="en-US" sz="4000" b="1" dirty="0">
                <a:highlight>
                  <a:srgbClr val="000000"/>
                </a:highlight>
              </a:rPr>
              <a:t> </a:t>
            </a:r>
          </a:p>
        </p:txBody>
      </p:sp>
    </p:spTree>
    <p:extLst>
      <p:ext uri="{BB962C8B-B14F-4D97-AF65-F5344CB8AC3E}">
        <p14:creationId xmlns:p14="http://schemas.microsoft.com/office/powerpoint/2010/main" val="3316726654"/>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AA752BA0-77A2-4691-A96E-847559F0C42E}"/>
              </a:ext>
            </a:extLst>
          </p:cNvPr>
          <p:cNvPicPr>
            <a:picLocks noChangeAspect="1"/>
          </p:cNvPicPr>
          <p:nvPr/>
        </p:nvPicPr>
        <p:blipFill>
          <a:blip r:embed="rId2">
            <a:extLst>
              <a:ext uri="{BEBA8EAE-BF5A-486C-A8C5-ECC9F3942E4B}">
                <a14:imgProps xmlns:a14="http://schemas.microsoft.com/office/drawing/2010/main">
                  <a14:imgLayer r:embed="rId3">
                    <a14:imgEffect>
                      <a14:artisticLineDrawing/>
                    </a14:imgEffect>
                  </a14:imgLayer>
                </a14:imgProps>
              </a:ext>
              <a:ext uri="{28A0092B-C50C-407E-A947-70E740481C1C}">
                <a14:useLocalDpi xmlns:a14="http://schemas.microsoft.com/office/drawing/2010/main" val="0"/>
              </a:ext>
            </a:extLst>
          </a:blip>
          <a:stretch>
            <a:fillRect/>
          </a:stretch>
        </p:blipFill>
        <p:spPr>
          <a:xfrm>
            <a:off x="247650" y="-133350"/>
            <a:ext cx="12192000" cy="6762750"/>
          </a:xfrm>
          <a:prstGeom prst="rect">
            <a:avLst/>
          </a:prstGeom>
          <a:ln w="228600" cap="sq" cmpd="thickThin">
            <a:solidFill>
              <a:srgbClr val="000000"/>
            </a:solidFill>
            <a:prstDash val="solid"/>
            <a:miter lim="800000"/>
          </a:ln>
          <a:effectLst>
            <a:innerShdw blurRad="76200">
              <a:srgbClr val="000000"/>
            </a:innerShdw>
          </a:effectLst>
        </p:spPr>
      </p:pic>
      <p:sp>
        <p:nvSpPr>
          <p:cNvPr id="7" name="ZoneTexte 6">
            <a:extLst>
              <a:ext uri="{FF2B5EF4-FFF2-40B4-BE49-F238E27FC236}">
                <a16:creationId xmlns:a16="http://schemas.microsoft.com/office/drawing/2014/main" id="{3BEAA628-F40D-49DE-A4D4-3C3B1CDAD357}"/>
              </a:ext>
            </a:extLst>
          </p:cNvPr>
          <p:cNvSpPr txBox="1"/>
          <p:nvPr/>
        </p:nvSpPr>
        <p:spPr>
          <a:xfrm>
            <a:off x="628650" y="3667125"/>
            <a:ext cx="4343399" cy="830997"/>
          </a:xfrm>
          <a:prstGeom prst="rect">
            <a:avLst/>
          </a:prstGeom>
          <a:noFill/>
        </p:spPr>
        <p:txBody>
          <a:bodyPr wrap="square">
            <a:spAutoFit/>
          </a:bodyPr>
          <a:lstStyle/>
          <a:p>
            <a:r>
              <a:rPr lang="en-US" sz="4800" dirty="0">
                <a:solidFill>
                  <a:schemeClr val="bg1"/>
                </a:solidFill>
                <a:highlight>
                  <a:srgbClr val="000000"/>
                </a:highlight>
                <a:latin typeface="Broadway" panose="04040905080B02020502" pitchFamily="82" charset="0"/>
              </a:rPr>
              <a:t>THE END ..</a:t>
            </a:r>
          </a:p>
        </p:txBody>
      </p:sp>
    </p:spTree>
    <p:extLst>
      <p:ext uri="{BB962C8B-B14F-4D97-AF65-F5344CB8AC3E}">
        <p14:creationId xmlns:p14="http://schemas.microsoft.com/office/powerpoint/2010/main" val="2759600975"/>
      </p:ext>
    </p:extLst>
  </p:cSld>
  <p:clrMapOvr>
    <a:masterClrMapping/>
  </p:clrMapOvr>
  <p:transition spd="slow">
    <p:push dir="u"/>
  </p:transition>
</p:sld>
</file>

<file path=ppt/theme/theme1.xml><?xml version="1.0" encoding="utf-8"?>
<a:theme xmlns:a="http://schemas.openxmlformats.org/drawingml/2006/main" name="Galerie">
  <a:themeElements>
    <a:clrScheme name="Galerie">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erie">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ie">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225</TotalTime>
  <Words>245</Words>
  <Application>Microsoft Office PowerPoint</Application>
  <PresentationFormat>Grand écran</PresentationFormat>
  <Paragraphs>19</Paragraphs>
  <Slides>10</Slides>
  <Notes>1</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10</vt:i4>
      </vt:variant>
    </vt:vector>
  </HeadingPairs>
  <TitlesOfParts>
    <vt:vector size="17" baseType="lpstr">
      <vt:lpstr>Arial</vt:lpstr>
      <vt:lpstr>Arial Black</vt:lpstr>
      <vt:lpstr>Broadway</vt:lpstr>
      <vt:lpstr>Calibri</vt:lpstr>
      <vt:lpstr>Gill Sans MT</vt:lpstr>
      <vt:lpstr>Symbol</vt:lpstr>
      <vt:lpstr>Galerie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Hiba El Farissi</dc:creator>
  <cp:lastModifiedBy>Hiba El Farissi</cp:lastModifiedBy>
  <cp:revision>3</cp:revision>
  <dcterms:created xsi:type="dcterms:W3CDTF">2023-01-04T16:51:30Z</dcterms:created>
  <dcterms:modified xsi:type="dcterms:W3CDTF">2023-01-04T20:36:46Z</dcterms:modified>
</cp:coreProperties>
</file>